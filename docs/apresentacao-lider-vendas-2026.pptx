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20D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457200"/>
            <a:ext cx="38100" cy="5943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46320" y="5486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59E0B"/>
                </a:solidFill>
              </a:rPr>
              <a:t>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645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PASSO A PASSO UNIFORMES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103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D1D5DB"/>
                </a:solidFill>
              </a:rPr>
              <a:t>Proposta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26060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59E0B"/>
                </a:solidFill>
              </a:rPr>
              <a:t>Liderança de Vendas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611880"/>
            <a:ext cx="22860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3749039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1D5DB"/>
                </a:solidFill>
              </a:rPr>
              <a:t>Como vamos de R$80k para R$200k em 30 dias
e construir a cultura que vai durar anos.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4846320"/>
            <a:ext cx="1645920" cy="274320"/>
          </a:xfrm>
          <a:prstGeom prst="rect">
            <a:avLst/>
          </a:prstGeom>
          <a:solidFill>
            <a:srgbClr val="271E07"/>
          </a:solidFill>
          <a:ln w="635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846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</a:rPr>
              <a:t>ABRIL → JUNHO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4846320"/>
            <a:ext cx="1645920" cy="274320"/>
          </a:xfrm>
          <a:prstGeom prst="rect">
            <a:avLst/>
          </a:prstGeom>
          <a:solidFill>
            <a:srgbClr val="052E1A"/>
          </a:solidFill>
          <a:ln w="6350">
            <a:solidFill>
              <a:srgbClr val="0A5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846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</a:rPr>
              <a:t>+150% CRESCIMENTO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846320"/>
            <a:ext cx="1645920" cy="274320"/>
          </a:xfrm>
          <a:prstGeom prst="rect">
            <a:avLst/>
          </a:prstGeom>
          <a:solidFill>
            <a:srgbClr val="2B1805"/>
          </a:solidFill>
          <a:ln w="6350">
            <a:solidFill>
              <a:srgbClr val="783A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84632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3 NOVOS CANAIS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852160"/>
            <a:ext cx="4114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📅  Reunião de Alinhamento · Março 2026
🏢  Novo Hamburgo, RS    👥  Equipe ~10 pessoas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2B1805"/>
          </a:solidFill>
          <a:ln w="6350">
            <a:solidFill>
              <a:srgbClr val="783A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97316"/>
                </a:solidFill>
              </a:rPr>
              <a:t>DIAGNÓSTICO HONESTO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Onde estamos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2560320" cy="11887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FATURAMENTO ATUAL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R$80k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por mês · Março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00200"/>
            <a:ext cx="2560320" cy="11887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6916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META NOVA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202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0B981"/>
                </a:solidFill>
              </a:rPr>
              <a:t>R$200k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5146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Abril 2026 · +150% crescimento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5303520" cy="658368"/>
          </a:xfrm>
          <a:prstGeom prst="rect">
            <a:avLst/>
          </a:prstGeom>
          <a:solidFill>
            <a:srgbClr val="1A0C0C"/>
          </a:solidFill>
          <a:ln w="6350">
            <a:solidFill>
              <a:srgbClr val="4A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3810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48000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🔴  90% dos leads chegam só por WhatsApp + Instagram. Sem diversificação = sem escala.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21608"/>
            <a:ext cx="5303520" cy="658368"/>
          </a:xfrm>
          <a:prstGeom prst="rect">
            <a:avLst/>
          </a:prstGeom>
          <a:solidFill>
            <a:srgbClr val="1A0C0C"/>
          </a:solidFill>
          <a:ln w="6350">
            <a:solidFill>
              <a:srgbClr val="4A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721608"/>
            <a:ext cx="3810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97808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🔴  Sem CRM, leads somem. Sem follow-up estruturado, dinheiro fica na mesa.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71416"/>
            <a:ext cx="5303520" cy="658368"/>
          </a:xfrm>
          <a:prstGeom prst="rect">
            <a:avLst/>
          </a:prstGeom>
          <a:solidFill>
            <a:srgbClr val="1A0C0C"/>
          </a:solidFill>
          <a:ln w="6350">
            <a:solidFill>
              <a:srgbClr val="4A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471416"/>
            <a:ext cx="3810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547616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🔴  Sem cultura de vendas, resultado depende do humor do dia — não de processo.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5303520" cy="658368"/>
          </a:xfrm>
          <a:prstGeom prst="rect">
            <a:avLst/>
          </a:prstGeom>
          <a:solidFill>
            <a:srgbClr val="1A0C0C"/>
          </a:solidFill>
          <a:ln w="6350">
            <a:solidFill>
              <a:srgbClr val="4A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38100" cy="6583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97424"/>
            <a:ext cx="5074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🔴  Mercado Livre, e-commerce e visitas externas = zero explorado.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600200"/>
            <a:ext cx="5852160" cy="4937760"/>
          </a:xfrm>
          <a:prstGeom prst="rect">
            <a:avLst/>
          </a:prstGeom>
          <a:solidFill>
            <a:srgbClr val="051710"/>
          </a:solidFill>
          <a:ln w="9525">
            <a:solidFill>
              <a:srgbClr val="0A3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1600200"/>
            <a:ext cx="38100" cy="4937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✅  A boa notícia: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2860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1D5DB"/>
                </a:solidFill>
              </a:rPr>
              <a:t>A Passo a Passo tem 30 anos de reputação
e qualidade comprovada. A base de clientes
é fiel. O produto já é excelente.
O que falta é uma MÁQUINA DE VENDAS
trabalhando por cima disso.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20D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271E07"/>
          </a:solidFill>
          <a:ln w="635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</a:rPr>
              <a:t>A CULTURA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59E0B"/>
                </a:solidFill>
              </a:rPr>
              <a:t>🦁 Leões na Selva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30 anos de produto. Agora, alma de startup de vendas.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384048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1328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878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Leões caçam — não esperam.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67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Prospecção ativa: visitas, ligações, broadcast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384048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8196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956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Resposta em menos de 5 min.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35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Quem responde primeiro, vende — sempre.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384048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5064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25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CRM antes de fechar o WhatsApp.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046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Todo lead cadastrado. Nenhum escapa.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384048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193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939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Pede indicação após cada venda.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9733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Uma venda bem-feita traz outras duas.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486400"/>
            <a:ext cx="384048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58800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5626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Celebra cada venda — o sino toca.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842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O time para, vibra junto, placar atualizado.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1554480"/>
            <a:ext cx="6949440" cy="1554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1554480"/>
            <a:ext cx="38100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1681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1681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O Sino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011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Toda venda fechada = sino toca. O valor vai no placar.
O time vibra junto. Nenhum treinamento substitui isso.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3246120"/>
            <a:ext cx="6949440" cy="1554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3246120"/>
            <a:ext cx="38100" cy="15544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33731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33731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O Placar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370332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Quadro branco visível: meta do dia (R$7.000),
total realizado, quem vendeu. Competição saudável.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4937760"/>
            <a:ext cx="6949440" cy="1554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46320" y="4937760"/>
            <a:ext cx="38100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50647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06476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Mural dos Campeões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0" y="539496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1D5DB"/>
                </a:solidFill>
              </a:rPr>
              <a:t>Na parede da loja: maior venda, hall da fama.
Reconhecimento público vale mais que bônus.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271E07"/>
          </a:solidFill>
          <a:ln w="635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</a:rPr>
              <a:t>EXPANSÃO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3 Novos Canais de Receita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Hoje: 100% WhatsApp + Instagram.   Em 90 dias: 5 canais gerando receita.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3657600" cy="46634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74519"/>
            <a:ext cx="38100" cy="4663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Mercado Livre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423160"/>
            <a:ext cx="2651760" cy="228600"/>
          </a:xfrm>
          <a:prstGeom prst="rect">
            <a:avLst/>
          </a:prstGeom>
          <a:solidFill>
            <a:srgbClr val="2B1805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24048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97316"/>
                </a:solidFill>
              </a:rPr>
              <a:t>GO-LIVE: SEMANA 3 ABR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788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100 milhões de usuários.
Busca 'uniforme personalizado'
= demanda sem atendimento.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3794760"/>
            <a:ext cx="329184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Abril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R$5.000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4453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4531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R$12.000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0200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Junho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0200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R$20.000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0832" y="1874519"/>
            <a:ext cx="3657600" cy="46634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2" y="1874519"/>
            <a:ext cx="38100" cy="4663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1965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9512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E-commerce / Shopify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9512" y="2423160"/>
            <a:ext cx="2651760" cy="228600"/>
          </a:xfrm>
          <a:prstGeom prst="rect">
            <a:avLst/>
          </a:prstGeom>
          <a:solidFill>
            <a:srgbClr val="0B1930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24048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GO-LIVE: MAIO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2788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Simulador + orçamento.
SEO local: 'uniforme
Novo Hamburgo'.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5424" y="3794760"/>
            <a:ext cx="329184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Abril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2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5424" y="4453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44531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R$8.000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5424" y="50200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Junho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9632" y="50200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R$20.000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84464" y="1874519"/>
            <a:ext cx="3657600" cy="466344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84464" y="1874519"/>
            <a:ext cx="38100" cy="4663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1624" y="1965960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53144" y="201168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Visitas Externas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53144" y="2423160"/>
            <a:ext cx="2651760" cy="228600"/>
          </a:xfrm>
          <a:prstGeom prst="rect">
            <a:avLst/>
          </a:prstGeom>
          <a:solidFill>
            <a:srgbClr val="051710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53144" y="2404872"/>
            <a:ext cx="2651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INÍCIO: SEMANA 1 ABR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49056" y="2788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1D5DB"/>
                </a:solidFill>
              </a:rPr>
              <a:t>Maior ROI de todos.
5 visitas/semana =
1 fechamento/semana.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49056" y="3794760"/>
            <a:ext cx="3291840" cy="127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49056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Abril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3264" y="38862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R$14.000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44531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Maio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13264" y="44531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9E0B"/>
                </a:solidFill>
              </a:rPr>
              <a:t>R$20.000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50200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</a:rPr>
              <a:t>Junho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13264" y="50200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0B981"/>
                </a:solidFill>
              </a:rPr>
              <a:t>R$25.000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00800"/>
            <a:ext cx="2788920" cy="411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6400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5 min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08760" y="6446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Tempo máximo de resposta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01568" y="6400800"/>
            <a:ext cx="2788920" cy="411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38728" y="6400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53128" y="6446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Visitas externas/mês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45936" y="6400800"/>
            <a:ext cx="2788920" cy="411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83096" y="6400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97496" y="6446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Canais em Junho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90304" y="6400800"/>
            <a:ext cx="2788920" cy="41148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27464" y="6400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30%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41864" y="64465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Conversão orçamento→venda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051710"/>
          </a:solidFill>
          <a:ln w="6350">
            <a:solidFill>
              <a:srgbClr val="0A5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</a:rPr>
              <a:t>MOTIVAÇÃO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Metas e Comissões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Vendedor que sabe exatamente o que ganha por cada venda, vende mais.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COMISSÃO POR CANAL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5303520" cy="502920"/>
          </a:xfrm>
          <a:prstGeom prst="rect">
            <a:avLst/>
          </a:prstGeom>
          <a:solidFill>
            <a:srgbClr val="1A1303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0378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Canal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0378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Comissão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0632"/>
            <a:ext cx="5303520" cy="502920"/>
          </a:xfrm>
          <a:prstGeom prst="rect">
            <a:avLst/>
          </a:prstGeom>
          <a:solidFill>
            <a:srgbClr val="1F2937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132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Venda direta (WhatsApp / Visita)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132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3,5%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00984"/>
            <a:ext cx="5303520" cy="502920"/>
          </a:xfrm>
          <a:prstGeom prst="rect">
            <a:avLst/>
          </a:prstGeom>
          <a:solidFill>
            <a:srgbClr val="1F2937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64484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Lead Meta Ads convertido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64484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3,0%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31336"/>
            <a:ext cx="5303520" cy="502920"/>
          </a:xfrm>
          <a:prstGeom prst="rect">
            <a:avLst/>
          </a:prstGeom>
          <a:solidFill>
            <a:srgbClr val="1F2937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894836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Indicação de cliente antigo 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894836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4,0%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5303520" cy="502920"/>
          </a:xfrm>
          <a:prstGeom prst="rect">
            <a:avLst/>
          </a:prstGeom>
          <a:solidFill>
            <a:srgbClr val="1F2937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25188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Mercado Livre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25188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2,0%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5303520" cy="502920"/>
          </a:xfrm>
          <a:prstGeom prst="rect">
            <a:avLst/>
          </a:prstGeom>
          <a:solidFill>
            <a:srgbClr val="1F2937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955540"/>
            <a:ext cx="4114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Renovação / Recorrente 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55540"/>
            <a:ext cx="1097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</a:rPr>
              <a:t>4,0%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5303520" cy="502920"/>
          </a:xfrm>
          <a:prstGeom prst="rect">
            <a:avLst/>
          </a:prstGeom>
          <a:solidFill>
            <a:srgbClr val="1A0C0C"/>
          </a:solidFill>
          <a:ln w="6350">
            <a:solidFill>
              <a:srgbClr val="4A1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5778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</a:rPr>
              <a:t>⚠️  Comissão paga após entrega — não no fechamento.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BÔNUS MENSAIS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331720"/>
            <a:ext cx="5577840" cy="7315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433320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407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Maior venda do mês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61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R$500 + foto no Mural dos Campeões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172968"/>
            <a:ext cx="5577840" cy="7315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274568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2491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Mais pedidos novos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5031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R$300 + 1 dia de folga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014216"/>
            <a:ext cx="5577840" cy="7315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4115816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0904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Equipe bate meta coletiva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344416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Churrasco pago pela empresa!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855464"/>
            <a:ext cx="5577840" cy="7315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4957064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931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Indicação que fecha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185664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R$100 extra por indicação convertida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5696712"/>
            <a:ext cx="5577840" cy="73152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5798312"/>
            <a:ext cx="45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772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Zero cancelamentos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602691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R$200 — qualidade recompensada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051710"/>
          </a:solidFill>
          <a:ln w="6350">
            <a:solidFill>
              <a:srgbClr val="0A5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0B981"/>
                </a:solidFill>
              </a:rPr>
              <a:t>RESULTADOS PROJETADOS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Crescimento em 3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0" y="1600200"/>
            <a:ext cx="2286000" cy="91440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MARÇO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atual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00200"/>
            <a:ext cx="2286000" cy="914400"/>
          </a:xfrm>
          <a:prstGeom prst="rect">
            <a:avLst/>
          </a:prstGeom>
          <a:solidFill>
            <a:srgbClr val="271E0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</a:rPr>
              <a:t>ABRIL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mês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2286000" cy="914400"/>
          </a:xfrm>
          <a:prstGeom prst="rect">
            <a:avLst/>
          </a:prstGeom>
          <a:solidFill>
            <a:srgbClr val="1F2937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7280"/>
                </a:solidFill>
              </a:rPr>
              <a:t>MAIO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mês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600200"/>
            <a:ext cx="2286000" cy="914400"/>
          </a:xfrm>
          <a:prstGeom prst="rect">
            <a:avLst/>
          </a:prstGeom>
          <a:solidFill>
            <a:srgbClr val="0517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645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</a:rPr>
              <a:t>JUNHO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9659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B7280"/>
                </a:solidFill>
              </a:rPr>
              <a:t>mês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2697480"/>
            <a:ext cx="10972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" y="274828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</a:rPr>
              <a:t>WhatsApp direto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269748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2748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R$80k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69748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748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R$130k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69748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748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R$130k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269748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748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R$130k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3200400"/>
            <a:ext cx="10972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" y="3251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</a:rPr>
              <a:t>Meta Ads → CRM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88720" y="320040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251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320040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0" y="3251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R$40k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20040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251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R$45k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320040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251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R$45k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3703320"/>
            <a:ext cx="10972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" y="3754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</a:rPr>
              <a:t>Visitas externas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370332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88720" y="3754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0" y="370332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0" y="3754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R$14k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70332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754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R$20k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370332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3754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R$25k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4206240"/>
            <a:ext cx="10972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" y="42570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</a:rPr>
              <a:t>ML + E-commerce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88720" y="420624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88720" y="4257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0" y="420624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0" y="4257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R$5k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420624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4257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R$20k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20624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0" y="4257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R$40k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4709160"/>
            <a:ext cx="109728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" y="47599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D1D5DB"/>
                </a:solidFill>
              </a:rPr>
              <a:t>Indicações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88720" y="470916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88720" y="4759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0" y="470916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0" y="4759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R$11k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0" y="470916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4759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R$5k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44000" y="4709160"/>
            <a:ext cx="2286000" cy="475488"/>
          </a:xfrm>
          <a:prstGeom prst="rect">
            <a:avLst/>
          </a:prstGeom>
          <a:solidFill>
            <a:srgbClr val="1F2937"/>
          </a:solidFill>
          <a:ln w="381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144000" y="4759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1D5DB"/>
                </a:solidFill>
              </a:rPr>
              <a:t>R$10k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5212080"/>
            <a:ext cx="1097280" cy="548640"/>
          </a:xfrm>
          <a:prstGeom prst="rect">
            <a:avLst/>
          </a:prstGeom>
          <a:solidFill>
            <a:srgbClr val="111827"/>
          </a:solidFill>
          <a:ln w="508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5288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88720" y="5212080"/>
            <a:ext cx="2286000" cy="548640"/>
          </a:xfrm>
          <a:prstGeom prst="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88720" y="5288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</a:rPr>
              <a:t>R$80k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657600" y="5212080"/>
            <a:ext cx="2286000" cy="548640"/>
          </a:xfrm>
          <a:prstGeom prst="rect">
            <a:avLst/>
          </a:prstGeom>
          <a:solidFill>
            <a:srgbClr val="271E07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57600" y="5288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9E0B"/>
                </a:solidFill>
              </a:rPr>
              <a:t>R$200k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0" y="5212080"/>
            <a:ext cx="2286000" cy="548640"/>
          </a:xfrm>
          <a:prstGeom prst="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0" y="5288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B7280"/>
                </a:solidFill>
              </a:rPr>
              <a:t>R$220k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5212080"/>
            <a:ext cx="2286000" cy="548640"/>
          </a:xfrm>
          <a:prstGeom prst="rect">
            <a:avLst/>
          </a:prstGeom>
          <a:solidFill>
            <a:srgbClr val="051710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144000" y="5288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0B981"/>
                </a:solidFill>
              </a:rPr>
              <a:t>R$250k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7200" y="5989320"/>
            <a:ext cx="3657600" cy="6858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94360" y="6035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</a:rPr>
              <a:t>R$670k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377440" y="6144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total 3 meses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70832" y="5989320"/>
            <a:ext cx="3657600" cy="6858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507992" y="6035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</a:rPr>
              <a:t>R$12,2k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91072" y="6144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investimento total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84464" y="5989320"/>
            <a:ext cx="3657600" cy="685800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21624" y="6035040"/>
            <a:ext cx="1645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7316"/>
                </a:solidFill>
              </a:rPr>
              <a:t>55x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204704" y="6144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retorno s/ investimento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0B1930"/>
          </a:solidFill>
          <a:ln w="63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3B82F6"/>
                </a:solidFill>
              </a:rPr>
              <a:t>PROCESSO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 Rotina do Leão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Resultado consistente vem de rotina consistente. Todo dia, sem exceção.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93392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6635" y="2130552"/>
            <a:ext cx="19050" cy="6858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08:00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1920240"/>
            <a:ext cx="411480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9837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Reunião de Abertura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250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Resultado ontem · meta hoje · campanha do dia · técnica da semana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137160" cy="1371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5" y="3044952"/>
            <a:ext cx="19050" cy="6858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7316"/>
                </a:solidFill>
              </a:rPr>
              <a:t>08:15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600200" y="2834640"/>
            <a:ext cx="411480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8981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Ataque Matinal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1648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Todos os leads do Kommo respondidos. WhatsApps pendentes resolvidos.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22192"/>
            <a:ext cx="13716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5" y="3959352"/>
            <a:ext cx="19050" cy="6858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490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B82F6"/>
                </a:solidFill>
              </a:rPr>
              <a:t>11:00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3749040"/>
            <a:ext cx="411480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38125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Check-in Rápido (5 min)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0792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Orçamentos enviados? Alguém precisa de ajuda para fechar?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36592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6635" y="4873752"/>
            <a:ext cx="19050" cy="6858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6634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</a:rPr>
              <a:t>14:00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00200" y="4663440"/>
            <a:ext cx="411480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37360" y="47269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Campanha da Tarde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9936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Broadcast WhatsApp. Stories com oferta/urgência no Instagram.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650992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777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17:30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5577840"/>
            <a:ext cx="4114800" cy="74980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737360" y="56413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Fechamento do 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908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Atualizar Kommo. Registrar no placar. Planejar amanhã.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CAMPANHAS POR DIA DA SEMANA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331720"/>
            <a:ext cx="5577840" cy="7132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239522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Segunda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2433320"/>
            <a:ext cx="1188720" cy="201168"/>
          </a:xfrm>
          <a:prstGeom prst="rect">
            <a:avLst/>
          </a:prstGeom>
          <a:solidFill>
            <a:srgbClr val="111827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240792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7316"/>
                </a:solidFill>
              </a:rPr>
              <a:t>URGÊNCIA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39522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</a:rPr>
              <a:t>Prazo fechando — garanta sua produção essa semana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3154680"/>
            <a:ext cx="5577840" cy="7132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2181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Terça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80" y="3256280"/>
            <a:ext cx="1188720" cy="201168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323088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0B981"/>
                </a:solidFill>
              </a:rPr>
              <a:t>PROVA SOCIAL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2181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</a:rPr>
              <a:t>Foto de cliente satisfeito + depoimento real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3977640"/>
            <a:ext cx="5577840" cy="7132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404114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Quarta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69480" y="4079240"/>
            <a:ext cx="1188720" cy="201168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9480" y="405384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59E0B"/>
                </a:solidFill>
              </a:rPr>
              <a:t>OFERTA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04114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</a:rPr>
              <a:t>Pedidos +20 peças: frete grátis no Vale dos Sinos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800600"/>
            <a:ext cx="5577840" cy="7132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5080" y="486410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Quinta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69480" y="4902200"/>
            <a:ext cx="1188720" cy="201168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269480" y="487680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3B82F6"/>
                </a:solidFill>
              </a:rPr>
              <a:t>EDUCAÇÃO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95360" y="48641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</a:rPr>
              <a:t>Sabia que dá pra personalizar até o número na manga?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5623560"/>
            <a:ext cx="5577840" cy="71323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568706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Sexta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5725160"/>
            <a:ext cx="1188720" cy="201168"/>
          </a:xfrm>
          <a:prstGeom prst="rect">
            <a:avLst/>
          </a:prstGeom>
          <a:solidFill>
            <a:srgbClr val="111827"/>
          </a:solidFill>
          <a:ln w="63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69480" y="5699760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97316"/>
                </a:solidFill>
              </a:rPr>
              <a:t>FECHAMENTO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95360" y="568706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1D5DB"/>
                </a:solidFill>
              </a:rPr>
              <a:t>Última chance de garantir produção essa semana!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solidFill>
            <a:srgbClr val="271E07"/>
          </a:solidFill>
          <a:ln w="635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F59E0B"/>
                </a:solidFill>
              </a:rPr>
              <a:t>PARA EXECUTAR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49808"/>
            <a:ext cx="41148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 que preciso da liderança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1D5DB"/>
                </a:solidFill>
              </a:rPr>
              <a:t>Itens simples, baixo custo. Retorno: 55x sobre o investimento.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INFRAESTRUTURA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303520" cy="6583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8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362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Sino físico para a loja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1620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Cowbell ou campainha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130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R$50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35808"/>
            <a:ext cx="5303520" cy="6583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37408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12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Quadro branco + marcadores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660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Placar diário de vendas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6280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R$150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85616"/>
            <a:ext cx="5303520" cy="6583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887216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8618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Kommo CRM ativo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11581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Já em configuração · ~R$400/mês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91261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Em andamento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35424"/>
            <a:ext cx="5303520" cy="6583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637024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6116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Sessão de fotos dos produtos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6562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10 produtos para ML e Shopify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66242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R$400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285232"/>
            <a:ext cx="5303520" cy="658368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86832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3614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Meta Ads: R$3.000 em Abril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1543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</a:rPr>
              <a:t>Dobrar para escalar leads no lançamento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12232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97316"/>
                </a:solidFill>
              </a:rPr>
              <a:t>R$3.000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920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AUTORIDADE NECESSÁRIA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331720"/>
            <a:ext cx="5577840" cy="8046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3952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 Autonomia para visitas externas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68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Autorização para visitar escolas e empresas em nome da Passo a Passo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291840"/>
            <a:ext cx="5577840" cy="8046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5080" y="33553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 Aprovação das comissões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3647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Definir os percentuais finais junto com a diretoria antes de Abril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251960"/>
            <a:ext cx="5577840" cy="8046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5080" y="43154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 Reunião de kickoff com equipe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46075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01/Abril — apresentar o plano, instalar o sino, definir metas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5212080"/>
            <a:ext cx="5577840" cy="804672"/>
          </a:xfrm>
          <a:prstGeom prst="rect">
            <a:avLst/>
          </a:prstGeom>
          <a:solidFill>
            <a:srgbClr val="1F2937"/>
          </a:solidFill>
          <a:ln w="63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2755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 Acesso ao Mercado Livre e Shopify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55676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Criar e gerenciar os canais digitais em nome da empresa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6126480"/>
            <a:ext cx="5577840" cy="594360"/>
          </a:xfrm>
          <a:prstGeom prst="rect">
            <a:avLst/>
          </a:prstGeom>
          <a:solidFill>
            <a:srgbClr val="271E07"/>
          </a:solidFill>
          <a:ln w="9525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6172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59E0B"/>
                </a:solidFill>
              </a:rPr>
              <a:t>Investimento total Abril: ~R$4.200   →   Retorno esperado: R$200.000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8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4873752" cy="6858000"/>
          </a:xfrm>
          <a:prstGeom prst="rect">
            <a:avLst/>
          </a:prstGeom>
          <a:solidFill>
            <a:srgbClr val="0F0C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27432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0">
                <a:solidFill>
                  <a:srgbClr val="F59E0B"/>
                </a:solidFill>
              </a:rPr>
              <a:t>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1D5DB"/>
                </a:solidFill>
              </a:rPr>
              <a:t>A Passo a Passo 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</a:rPr>
              <a:t>30 anos de produto.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290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7316"/>
                </a:solidFill>
              </a:rPr>
              <a:t>Agora vamos ter uma máquina de vendas.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4160520"/>
            <a:ext cx="164592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4297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1D5DB"/>
                </a:solidFill>
              </a:rPr>
              <a:t>Não precisamos de sorte.
Precisamos de processo, disciplina e cultura.
Eu estou pronto para liderar essa transformação.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8396" y="5349240"/>
            <a:ext cx="1828800" cy="274320"/>
          </a:xfrm>
          <a:prstGeom prst="rect">
            <a:avLst/>
          </a:prstGeom>
          <a:solidFill>
            <a:srgbClr val="271E07"/>
          </a:solidFill>
          <a:ln w="635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8396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</a:rPr>
              <a:t>R$200K EM ABRIL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0076" y="5349240"/>
            <a:ext cx="1828800" cy="274320"/>
          </a:xfrm>
          <a:prstGeom prst="rect">
            <a:avLst/>
          </a:prstGeom>
          <a:solidFill>
            <a:srgbClr val="051710"/>
          </a:solidFill>
          <a:ln w="6350">
            <a:solidFill>
              <a:srgbClr val="0A5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0076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</a:rPr>
              <a:t>R$670K EM 3 MESES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91756" y="5349240"/>
            <a:ext cx="1828800" cy="274320"/>
          </a:xfrm>
          <a:prstGeom prst="rect">
            <a:avLst/>
          </a:prstGeom>
          <a:solidFill>
            <a:srgbClr val="0B1930"/>
          </a:solidFill>
          <a:ln w="63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1756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</a:rPr>
              <a:t>5 CANAIS EM JUNHO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5852160"/>
            <a:ext cx="5760720" cy="685800"/>
          </a:xfrm>
          <a:prstGeom prst="rect">
            <a:avLst/>
          </a:prstGeom>
          <a:solidFill>
            <a:srgbClr val="271E07"/>
          </a:solidFill>
          <a:ln w="12700">
            <a:solidFill>
              <a:srgbClr val="785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5897880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</a:rPr>
              <a:t>Quando começamos?  →  01 de Abril de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